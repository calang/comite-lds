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8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C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s-C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C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s-C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C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s-C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5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C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C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s-C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ftr" idx="6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C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C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sldNum" idx="7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C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CDB7C4A-8714-40BE-9B74-63D60E9F98D6}" type="slidenum">
              <a:rPr lang="es-C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s-C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F8CCE14-B6C1-4736-8598-ACCEB38BBA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s-C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C9E7371-DE87-4875-841A-C977465317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s-C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223EDE8-0CC2-42C9-98EA-608EA7967E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s-C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9E61A49-2B88-4DE8-BD32-8BD5D7FA5C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s-C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BFBC705-1CE6-4168-A2E5-40C37A89C4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s-C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CED17CC-F37B-4870-B273-0AE3F96565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s-C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F13E426-7FF7-493F-941E-9ED72F6025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s-C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8ACFF40-3019-4CBF-977B-28774EF91B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s-C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40080" y="203040"/>
            <a:ext cx="7862040" cy="717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s-CR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s-C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40080" y="1224360"/>
            <a:ext cx="7862040" cy="821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80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42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80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42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80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80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80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40080" y="203040"/>
            <a:ext cx="7862040" cy="717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s-CR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s-C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40080" y="1224360"/>
            <a:ext cx="7862040" cy="821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80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42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80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42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80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80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80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7800" cy="729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s-CR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s-C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38120" y="1188720"/>
            <a:ext cx="8253000" cy="3518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714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s-C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98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s-C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714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s-C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98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s-C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71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s-C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71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s-C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71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s-C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1"/>
          </p:nvPr>
        </p:nvSpPr>
        <p:spPr>
          <a:xfrm>
            <a:off x="8321040" y="4709160"/>
            <a:ext cx="455400" cy="27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92BED383-DAE2-45A6-92AD-B182A7198A71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C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43520" y="203040"/>
            <a:ext cx="7679160" cy="734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s-CR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s-C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2"/>
          </p:nvPr>
        </p:nvSpPr>
        <p:spPr>
          <a:xfrm>
            <a:off x="8321040" y="4709160"/>
            <a:ext cx="455400" cy="27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BD766379-3205-42DC-846A-94E1F6FDE7F3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C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57200" y="1095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200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858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24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43520" y="203040"/>
            <a:ext cx="7679160" cy="734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s-CR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s-C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3"/>
          </p:nvPr>
        </p:nvSpPr>
        <p:spPr>
          <a:xfrm>
            <a:off x="8321040" y="4709160"/>
            <a:ext cx="455400" cy="27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493A7630-9391-4ABD-AF1E-1E968157A789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C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57200" y="1095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200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858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24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m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43520" y="203040"/>
            <a:ext cx="7679160" cy="734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s-CR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s-C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ldNum" idx="4"/>
          </p:nvPr>
        </p:nvSpPr>
        <p:spPr>
          <a:xfrm>
            <a:off x="8321040" y="4709160"/>
            <a:ext cx="455400" cy="27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38DE5693-F3D4-4197-8217-3AA22998F748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C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57200" y="1095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200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858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24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40080" y="1463040"/>
            <a:ext cx="7862040" cy="1278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Casetas de seguridad de</a:t>
            </a:r>
            <a:br>
              <a:rPr sz="4000"/>
            </a:b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Lomas del Sol</a:t>
            </a:r>
            <a:endParaRPr lang="es-C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40080" y="2880360"/>
            <a:ext cx="7862040" cy="821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Reunión con vecinos · Comité de Vecinos de Lomas del Sol</a:t>
            </a: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12-oct-2026</a:t>
            </a: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40080" y="201600"/>
            <a:ext cx="7862040" cy="7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Agenda</a:t>
            </a:r>
            <a:endParaRPr lang="es-C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40080" y="1080360"/>
            <a:ext cx="7862040" cy="376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Noto Sans Symbols"/>
              <a:buAutoNum type="arabicPeriod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Oficio recibido</a:t>
            </a:r>
            <a:endParaRPr lang="es-C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Calibri"/>
              <a:buAutoNum type="arabicPeriod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Estado del proceso municipal</a:t>
            </a:r>
            <a:endParaRPr lang="es-C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Noto Sans Symbols"/>
              <a:buAutoNum type="arabicPeriod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Posición del Comité</a:t>
            </a:r>
            <a:endParaRPr lang="es-C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Noto Sans Symbols"/>
              <a:buAutoNum type="arabicPeriod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Iniciativas actuales</a:t>
            </a:r>
            <a:endParaRPr lang="es-C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Noto Sans Symbols"/>
              <a:buAutoNum type="arabicPeriod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Siguientes pasos propuestos</a:t>
            </a:r>
            <a:endParaRPr lang="es-C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Noto Sans Symbols"/>
              <a:buAutoNum type="arabicPeriod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Preguntas, comentarios, sugerencias</a:t>
            </a:r>
            <a:endParaRPr lang="es-C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7800" cy="729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1. Oficio recibido</a:t>
            </a:r>
            <a:endParaRPr lang="es-C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Google Shape;52;p11"/>
          <p:cNvSpPr/>
          <p:nvPr/>
        </p:nvSpPr>
        <p:spPr>
          <a:xfrm>
            <a:off x="457200" y="1188720"/>
            <a:ext cx="2512800" cy="3518640"/>
          </a:xfrm>
          <a:prstGeom prst="roundRect">
            <a:avLst>
              <a:gd name="adj" fmla="val 4364"/>
            </a:avLst>
          </a:prstGeom>
          <a:solidFill>
            <a:schemeClr val="lt2"/>
          </a:solidFill>
          <a:ln w="12700">
            <a:solidFill>
              <a:srgbClr val="EEF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53;p11"/>
          <p:cNvSpPr/>
          <p:nvPr/>
        </p:nvSpPr>
        <p:spPr>
          <a:xfrm>
            <a:off x="1239120" y="1463040"/>
            <a:ext cx="949320" cy="949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1F4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" name="Google Shape;54;p11" descr="preencoded.png"/>
          <p:cNvPicPr/>
          <p:nvPr/>
        </p:nvPicPr>
        <p:blipFill>
          <a:blip r:embed="rId1"/>
          <a:stretch/>
        </p:blipFill>
        <p:spPr>
          <a:xfrm>
            <a:off x="1486080" y="1710000"/>
            <a:ext cx="455400" cy="45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Google Shape;55;p11"/>
          <p:cNvSpPr/>
          <p:nvPr/>
        </p:nvSpPr>
        <p:spPr>
          <a:xfrm>
            <a:off x="640080" y="2606040"/>
            <a:ext cx="214704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Oficio MC-DGV-1155-09-2026</a:t>
            </a:r>
            <a:endParaRPr lang="es-C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Dirección de Gestión Vial</a:t>
            </a:r>
            <a:endParaRPr lang="es-C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Ing. Randall Rodríguez Araya</a:t>
            </a:r>
            <a:endParaRPr lang="es-C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Fechado 23 set 2026</a:t>
            </a:r>
            <a:endParaRPr lang="es-C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Firmado 28 set 2026</a:t>
            </a:r>
            <a:endParaRPr lang="es-C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3246120" y="1188720"/>
            <a:ext cx="5438880" cy="3518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2286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Dirigido a Carlos Lang, Beatriz Pérez y al Comité de Vecinos</a:t>
            </a:r>
            <a:endParaRPr lang="es-C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Asunto: eliminación de las casetas de Calle Los Cedros y Calle Olmos</a:t>
            </a:r>
            <a:endParaRPr lang="es-C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Secretaría del Concejo: no hay registro de autorización (MC-CM-SEC-055-10-2024)</a:t>
            </a:r>
            <a:endParaRPr lang="es-C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Desarrollo y Control Urbano: sin permiso de construcción (MC-DDCU-283-08-2026)</a:t>
            </a:r>
            <a:endParaRPr lang="es-C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La Municipalidad procederá con el retiro y la demolición</a:t>
            </a:r>
            <a:endParaRPr lang="es-C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Pide al Comité avisar a los guardas para que retiren sus pertenencias</a:t>
            </a:r>
            <a:endParaRPr lang="es-C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No indica fecha para la ejecución</a:t>
            </a:r>
            <a:endParaRPr lang="es-C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8"/>
          </p:nvPr>
        </p:nvSpPr>
        <p:spPr>
          <a:xfrm>
            <a:off x="8321040" y="4709160"/>
            <a:ext cx="455400" cy="27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35EB7D27-EA01-4855-8121-5F1A8308C2CE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2</a:t>
            </a:fld>
            <a:endParaRPr lang="es-C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43520" y="203040"/>
            <a:ext cx="7679160" cy="734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2. Estado del proceso municipal</a:t>
            </a:r>
            <a:endParaRPr lang="es-C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"/>
          <p:cNvPicPr/>
          <p:nvPr/>
        </p:nvPicPr>
        <p:blipFill>
          <a:blip r:embed="rId1"/>
          <a:stretch/>
        </p:blipFill>
        <p:spPr>
          <a:xfrm>
            <a:off x="1082160" y="918000"/>
            <a:ext cx="7419960" cy="4186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43520" y="203040"/>
            <a:ext cx="7679160" cy="734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3. Posición del Comité</a:t>
            </a:r>
            <a:endParaRPr lang="es-C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57200" y="1428480"/>
            <a:ext cx="8227800" cy="264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Satisfacer intereses de ambas partes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-"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Cumplir requisitos municipales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-"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Cubrir necesidades de seguridad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7800" cy="729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4.a. Comité: búsqueda de diálogo con el Concejo</a:t>
            </a:r>
            <a:endParaRPr lang="es-C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78;p14"/>
          <p:cNvSpPr/>
          <p:nvPr/>
        </p:nvSpPr>
        <p:spPr>
          <a:xfrm>
            <a:off x="457200" y="1188720"/>
            <a:ext cx="2512800" cy="3518640"/>
          </a:xfrm>
          <a:prstGeom prst="roundRect">
            <a:avLst>
              <a:gd name="adj" fmla="val 4364"/>
            </a:avLst>
          </a:prstGeom>
          <a:solidFill>
            <a:schemeClr val="lt2"/>
          </a:solidFill>
          <a:ln w="12700">
            <a:solidFill>
              <a:srgbClr val="EEF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Google Shape;79;p14"/>
          <p:cNvSpPr/>
          <p:nvPr/>
        </p:nvSpPr>
        <p:spPr>
          <a:xfrm>
            <a:off x="1239120" y="1463040"/>
            <a:ext cx="949320" cy="949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1F4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" name="Google Shape;80;p14" descr="preencoded.png"/>
          <p:cNvPicPr/>
          <p:nvPr/>
        </p:nvPicPr>
        <p:blipFill>
          <a:blip r:embed="rId1"/>
          <a:stretch/>
        </p:blipFill>
        <p:spPr>
          <a:xfrm>
            <a:off x="1486080" y="1710000"/>
            <a:ext cx="455400" cy="45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Google Shape;81;p14"/>
          <p:cNvSpPr/>
          <p:nvPr/>
        </p:nvSpPr>
        <p:spPr>
          <a:xfrm>
            <a:off x="640080" y="2606040"/>
            <a:ext cx="214704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Oficio CLS N.° 0017</a:t>
            </a:r>
            <a:endParaRPr lang="es-C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8 oct 2026</a:t>
            </a:r>
            <a:endParaRPr lang="es-C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A: Andrea Vargas Uribe,</a:t>
            </a:r>
            <a:endParaRPr lang="es-C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Presidenta del Concejo Municipal</a:t>
            </a:r>
            <a:endParaRPr lang="es-C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3246120" y="1188720"/>
            <a:ext cx="5438880" cy="3518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2286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Solicita no ejecutar por ahora la demolición de las casetas</a:t>
            </a:r>
            <a:endParaRPr lang="es-C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El Comité recibió el oficio el 6 de octubre, sin aviso previo</a:t>
            </a:r>
            <a:endParaRPr lang="es-C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Pide un espacio de diálogo y negociación en un plazo prudente</a:t>
            </a:r>
            <a:endParaRPr lang="es-C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Retirar las casetas deja a los vecinos en indefensión</a:t>
            </a:r>
            <a:endParaRPr lang="es-C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Inseguridad documentada por Fuerza Pública y Alarmas Comunitarias</a:t>
            </a:r>
            <a:endParaRPr lang="es-C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Solicita audiencia para satisfacer los intereses de ambas partes</a:t>
            </a:r>
            <a:endParaRPr lang="es-C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Ofrece reunión virtual o presencial en el despacho</a:t>
            </a:r>
            <a:endParaRPr lang="es-C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9"/>
          </p:nvPr>
        </p:nvSpPr>
        <p:spPr>
          <a:xfrm>
            <a:off x="8321040" y="4709160"/>
            <a:ext cx="455400" cy="27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3EF6D33F-E1C7-4C94-853A-8A03DB3BD6E5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C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43520" y="203040"/>
            <a:ext cx="7679160" cy="734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4.b. Andrea N.</a:t>
            </a:r>
            <a:endParaRPr lang="es-C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10"/>
          </p:nvPr>
        </p:nvSpPr>
        <p:spPr>
          <a:xfrm>
            <a:off x="457200" y="1297440"/>
            <a:ext cx="8227800" cy="2779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SzPct val="45000"/>
              <a:buFont typeface="Symbol" charset="2"/>
              <a:buChar char=""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marL="18360" indent="-127080" algn="l">
              <a:lnSpc>
                <a:spcPct val="100000"/>
              </a:lnSpc>
              <a:buClr>
                <a:srgbClr val="000000"/>
              </a:buClr>
              <a:buSzPct val="45000"/>
              <a:buFont typeface="Symbol" charset="2"/>
              <a:buChar char="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suspensión de demolición</a:t>
            </a:r>
            <a:endParaRPr lang="es-CR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8360" indent="-127080" algn="l">
              <a:lnSpc>
                <a:spcPct val="100000"/>
              </a:lnSpc>
              <a:spcBef>
                <a:spcPts val="1729"/>
              </a:spcBef>
              <a:buClr>
                <a:srgbClr val="000000"/>
              </a:buClr>
              <a:buSzPct val="45000"/>
              <a:buFont typeface="Symbol" charset="2"/>
              <a:buChar char="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seguimiento a recursos anteriores y</a:t>
            </a:r>
            <a:endParaRPr lang="es-CR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8360" indent="-127080" algn="l">
              <a:lnSpc>
                <a:spcPct val="100000"/>
              </a:lnSpc>
              <a:spcBef>
                <a:spcPts val="1729"/>
              </a:spcBef>
              <a:buClr>
                <a:srgbClr val="000000"/>
              </a:buClr>
              <a:buSzPct val="45000"/>
              <a:buFont typeface="Symbol" charset="2"/>
              <a:buChar char="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consulta ciudadana</a:t>
            </a:r>
            <a:endParaRPr lang="es-CR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43520" y="203040"/>
            <a:ext cx="7679160" cy="734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5. Siguientes pasos</a:t>
            </a:r>
            <a:endParaRPr lang="es-C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339200"/>
            <a:ext cx="8227800" cy="273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Procurando los documentos de referencia citados en oficio recibido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Esperando respuesta del Concejo sobre propuesta de conciliación</a:t>
            </a:r>
            <a:endParaRPr lang="es-C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43520" y="326160"/>
            <a:ext cx="8234280" cy="744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6. Preguntas, comentarios, sugerencias</a:t>
            </a:r>
            <a:endParaRPr lang="es-C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Lomas del Sol">
  <a:themeElements>
    <a:clrScheme name="Lomas del Sol">
      <a:dk1>
        <a:srgbClr val="1E2B26"/>
      </a:dk1>
      <a:lt1>
        <a:srgbClr val="FFFFFF"/>
      </a:lt1>
      <a:dk2>
        <a:srgbClr val="1F4E3D"/>
      </a:dk2>
      <a:lt2>
        <a:srgbClr val="EEF3F0"/>
      </a:lt2>
      <a:accent1>
        <a:srgbClr val="1F4E3D"/>
      </a:accent1>
      <a:accent2>
        <a:srgbClr val="D99A2B"/>
      </a:accent2>
      <a:accent3>
        <a:srgbClr val="5E8C6A"/>
      </a:accent3>
      <a:accent4>
        <a:srgbClr val="A7C4B5"/>
      </a:accent4>
      <a:accent5>
        <a:srgbClr val="7A5C2E"/>
      </a:accent5>
      <a:accent6>
        <a:srgbClr val="3C6E8F"/>
      </a:accent6>
      <a:hlink>
        <a:srgbClr val="3C6E8F"/>
      </a:hlink>
      <a:folHlink>
        <a:srgbClr val="7A5C2E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LibreOffice/26.2.6.3$Linux_X86_64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>Carlos Lang</cp:lastModifiedBy>
  <dcterms:modified xsi:type="dcterms:W3CDTF">2026-10-12T21:51:46Z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